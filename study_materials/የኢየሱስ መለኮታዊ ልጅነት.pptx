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58" r:id="rId13"/>
    <p:sldId id="259" r:id="rId14"/>
    <p:sldId id="260" r:id="rId15"/>
    <p:sldId id="261" r:id="rId16"/>
    <p:sldId id="262" r:id="rId17"/>
    <p:sldId id="263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95C189E0-CD80-4E21-94CA-D56650ECFA12}" type="datetimeFigureOut">
              <a:rPr lang="en-US" smtClean="0"/>
              <a:t>11-Aug-25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85596032-3E23-472B-A0E1-4F03004B7E5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676400"/>
            <a:ext cx="8458200" cy="3124200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 smtClean="0">
                <a:solidFill>
                  <a:srgbClr val="C00000"/>
                </a:solidFill>
                <a:latin typeface="Power Geez Unicode1" panose="00000400000000000000" pitchFamily="2" charset="0"/>
              </a:rPr>
              <a:t>የኢየሱስ</a:t>
            </a:r>
            <a:r>
              <a:rPr lang="en-US" b="1" dirty="0" smtClean="0">
                <a:solidFill>
                  <a:srgbClr val="C0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solidFill>
                  <a:srgbClr val="C0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latin typeface="Power Geez Unicode1" panose="00000400000000000000" pitchFamily="2" charset="0"/>
              </a:rPr>
              <a:t>ልጅነት</a:t>
            </a:r>
            <a:endParaRPr lang="en-US" b="1" dirty="0">
              <a:solidFill>
                <a:srgbClr val="C00000"/>
              </a:solidFill>
              <a:latin typeface="Power Geez Unicode1" panose="000004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819400"/>
            <a:ext cx="8458200" cy="19812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ክፍል</a:t>
            </a:r>
            <a:r>
              <a:rPr lang="en-US" sz="32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32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አምስት</a:t>
            </a:r>
            <a:endParaRPr lang="en-US" sz="3200" b="1" dirty="0">
              <a:solidFill>
                <a:srgbClr val="00B050"/>
              </a:solidFill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65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915400" cy="64008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የኢየሱስ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በቁርአን</a:t>
            </a:r>
            <a:endParaRPr lang="en-US" b="1" dirty="0" smtClean="0">
              <a:solidFill>
                <a:srgbClr val="FF0000"/>
              </a:solidFill>
              <a:latin typeface="Power Geez Unicode1" panose="00000400000000000000" pitchFamily="2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ከሙስሊሞች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ውይይት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ስናደርግ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በመጀመሪያ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ትርጉም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እንዳለው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ማብራራት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ያስፈልጋል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በመጽሐፍ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ሶስት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ትርጉሞች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አሉት</a:t>
            </a:r>
            <a:r>
              <a:rPr lang="en-US" b="1" dirty="0" smtClean="0">
                <a:latin typeface="Power Geez Unicode1" panose="00000400000000000000" pitchFamily="2" charset="0"/>
              </a:rPr>
              <a:t>፡-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latin typeface="Power Geez Unicode1" panose="00000400000000000000" pitchFamily="2" charset="0"/>
              </a:rPr>
              <a:t>ሀ) </a:t>
            </a:r>
            <a:r>
              <a:rPr lang="en-US" b="1" dirty="0" err="1" smtClean="0">
                <a:latin typeface="Power Geez Unicode1" panose="00000400000000000000" pitchFamily="2" charset="0"/>
              </a:rPr>
              <a:t>ሰብአዊ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- </a:t>
            </a:r>
            <a:r>
              <a:rPr lang="en-US" b="1" dirty="0" err="1" smtClean="0">
                <a:latin typeface="Power Geez Unicode1" panose="00000400000000000000" pitchFamily="2" charset="0"/>
              </a:rPr>
              <a:t>ዘ</a:t>
            </a:r>
            <a:r>
              <a:rPr lang="en-US" b="1" dirty="0" err="1" smtClean="0">
                <a:latin typeface="Power Geez Unicode1" panose="00000400000000000000" pitchFamily="2" charset="0"/>
              </a:rPr>
              <a:t>ፍ</a:t>
            </a:r>
            <a:r>
              <a:rPr lang="en-US" b="1" dirty="0" smtClean="0">
                <a:latin typeface="Power Geez Unicode1" panose="00000400000000000000" pitchFamily="2" charset="0"/>
              </a:rPr>
              <a:t> 4፡1 (</a:t>
            </a:r>
            <a:r>
              <a:rPr lang="en-US" b="1" dirty="0" err="1" smtClean="0">
                <a:latin typeface="Power Geez Unicode1" panose="00000400000000000000" pitchFamily="2" charset="0"/>
              </a:rPr>
              <a:t>አዳም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ቃየልን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ወለደ</a:t>
            </a:r>
            <a:r>
              <a:rPr lang="en-US" b="1" dirty="0" smtClean="0">
                <a:latin typeface="Power Geez Unicode1" panose="00000400000000000000" pitchFamily="2" charset="0"/>
              </a:rPr>
              <a:t>)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latin typeface="Power Geez Unicode1" panose="00000400000000000000" pitchFamily="2" charset="0"/>
              </a:rPr>
              <a:t>ለ)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መንፈሳዊ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- </a:t>
            </a:r>
            <a:r>
              <a:rPr lang="en-US" b="1" dirty="0" err="1" smtClean="0"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latin typeface="Power Geez Unicode1" panose="00000400000000000000" pitchFamily="2" charset="0"/>
              </a:rPr>
              <a:t> 1፡12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latin typeface="Power Geez Unicode1" panose="00000400000000000000" pitchFamily="2" charset="0"/>
              </a:rPr>
              <a:t>ሐ)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- </a:t>
            </a:r>
            <a:r>
              <a:rPr lang="en-US" b="1" dirty="0" err="1" smtClean="0"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latin typeface="Power Geez Unicode1" panose="00000400000000000000" pitchFamily="2" charset="0"/>
              </a:rPr>
              <a:t> 3፡16</a:t>
            </a:r>
            <a:endParaRPr lang="en-US" b="1" dirty="0" smtClean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63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91600" cy="632460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51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ነገር</a:t>
            </a:r>
            <a:r>
              <a:rPr lang="en-US" sz="51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51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ግን</a:t>
            </a:r>
            <a:r>
              <a:rPr lang="en-US" sz="51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51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ሙስሊሞች</a:t>
            </a:r>
            <a:r>
              <a:rPr lang="en-US" sz="51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51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ልጅ</a:t>
            </a:r>
            <a:r>
              <a:rPr lang="en-US" sz="51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51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ለሚለው</a:t>
            </a:r>
            <a:r>
              <a:rPr lang="en-US" sz="51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51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ቃል</a:t>
            </a:r>
            <a:r>
              <a:rPr lang="en-US" sz="51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51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ሁለት</a:t>
            </a:r>
            <a:r>
              <a:rPr lang="en-US" sz="51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የአረብኛ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ቃላት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ይጠቀማሉ</a:t>
            </a:r>
            <a:r>
              <a:rPr lang="en-US" b="1" dirty="0" smtClean="0">
                <a:latin typeface="Power Geez Unicode1" panose="00000400000000000000" pitchFamily="2" charset="0"/>
              </a:rPr>
              <a:t> - </a:t>
            </a:r>
            <a:r>
              <a:rPr lang="en-US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ወለድ</a:t>
            </a:r>
            <a:r>
              <a:rPr lang="en-US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ኢብን</a:t>
            </a:r>
            <a:r>
              <a:rPr lang="en-US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ቢን</a:t>
            </a:r>
            <a:r>
              <a:rPr lang="en-US" b="1" dirty="0" smtClean="0">
                <a:latin typeface="Power Geez Unicode1" panose="00000400000000000000" pitchFamily="2" charset="0"/>
              </a:rPr>
              <a:t>)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የሚሉት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ናቸው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ወለድ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በአረብኛ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መውለድን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ትውልድ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ጽንሰ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ሐሳብ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ሲሆን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ከሰብአዊ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የ</a:t>
            </a:r>
            <a:r>
              <a:rPr lang="en-US" b="1" dirty="0" err="1" smtClean="0">
                <a:latin typeface="Power Geez Unicode1" panose="00000400000000000000" pitchFamily="2" charset="0"/>
              </a:rPr>
              <a:t>ተያያዘ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 (</a:t>
            </a:r>
            <a:r>
              <a:rPr lang="en-US" b="1" dirty="0" err="1" smtClean="0">
                <a:latin typeface="Power Geez Unicode1" panose="00000400000000000000" pitchFamily="2" charset="0"/>
              </a:rPr>
              <a:t>ለምሳሌ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ከድር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የአህመድ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)፡፡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ቁርአን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የኢየሱስን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የዘር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ሐረግ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ለመግለጽ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ኢብን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ይጠቀማል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ኢሳ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ኢብኑ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መርየም</a:t>
            </a:r>
            <a:r>
              <a:rPr lang="en-US" b="1" dirty="0" smtClean="0">
                <a:latin typeface="Power Geez Unicode1" panose="00000400000000000000" pitchFamily="2" charset="0"/>
              </a:rPr>
              <a:t> (</a:t>
            </a:r>
            <a:r>
              <a:rPr lang="ar-AE" b="1" dirty="0"/>
              <a:t>عِيسَى ٱبۡنُ </a:t>
            </a:r>
            <a:r>
              <a:rPr lang="ar-AE" b="1" dirty="0" smtClean="0"/>
              <a:t>مَرۡيَمَ</a:t>
            </a:r>
            <a:r>
              <a:rPr lang="en-US" b="1" dirty="0" smtClean="0"/>
              <a:t>) - </a:t>
            </a:r>
            <a:r>
              <a:rPr lang="en-US" b="1" dirty="0" err="1" smtClean="0"/>
              <a:t>ኢየሱስ</a:t>
            </a:r>
            <a:r>
              <a:rPr lang="en-US" b="1" dirty="0" smtClean="0"/>
              <a:t> </a:t>
            </a:r>
            <a:r>
              <a:rPr lang="en-US" b="1" dirty="0" err="1" smtClean="0"/>
              <a:t>የማሪያም</a:t>
            </a:r>
            <a:r>
              <a:rPr lang="en-US" b="1" dirty="0" smtClean="0"/>
              <a:t> </a:t>
            </a:r>
            <a:r>
              <a:rPr lang="en-US" b="1" dirty="0" err="1" smtClean="0"/>
              <a:t>ልጅ</a:t>
            </a:r>
            <a:r>
              <a:rPr lang="en-US" b="1" dirty="0" smtClean="0"/>
              <a:t> </a:t>
            </a:r>
            <a:r>
              <a:rPr lang="en-US" b="1" dirty="0" err="1" smtClean="0"/>
              <a:t>ማለት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፡፡ </a:t>
            </a:r>
            <a:r>
              <a:rPr lang="en-US" b="1" dirty="0" err="1" smtClean="0"/>
              <a:t>ይህም</a:t>
            </a:r>
            <a:r>
              <a:rPr lang="en-US" b="1" dirty="0" smtClean="0"/>
              <a:t> </a:t>
            </a:r>
            <a:r>
              <a:rPr lang="en-US" b="1" dirty="0" err="1" smtClean="0"/>
              <a:t>የኢየሱስን</a:t>
            </a:r>
            <a:r>
              <a:rPr lang="en-US" b="1" dirty="0" smtClean="0"/>
              <a:t> </a:t>
            </a:r>
            <a:r>
              <a:rPr lang="en-US" b="1" dirty="0" err="1" smtClean="0"/>
              <a:t>ስብዕና</a:t>
            </a:r>
            <a:r>
              <a:rPr lang="en-US" b="1" dirty="0" smtClean="0"/>
              <a:t> </a:t>
            </a:r>
            <a:r>
              <a:rPr lang="en-US" b="1" dirty="0" err="1" smtClean="0"/>
              <a:t>ለመግለጽ</a:t>
            </a:r>
            <a:r>
              <a:rPr lang="en-US" b="1" dirty="0" smtClean="0"/>
              <a:t> </a:t>
            </a:r>
            <a:r>
              <a:rPr lang="en-US" b="1" dirty="0" err="1" smtClean="0"/>
              <a:t>የሚጠቀምበት</a:t>
            </a:r>
            <a:r>
              <a:rPr lang="en-US" b="1" dirty="0" smtClean="0"/>
              <a:t> </a:t>
            </a:r>
            <a:r>
              <a:rPr lang="en-US" b="1" dirty="0" err="1" smtClean="0"/>
              <a:t>ቃል</a:t>
            </a:r>
            <a:r>
              <a:rPr lang="en-US" b="1" dirty="0" smtClean="0"/>
              <a:t> </a:t>
            </a:r>
            <a:r>
              <a:rPr lang="en-US" b="1" dirty="0" err="1" smtClean="0"/>
              <a:t>ነው</a:t>
            </a:r>
            <a:r>
              <a:rPr lang="en-US" b="1" dirty="0" smtClean="0"/>
              <a:t>፡፡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እንዲሁም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ኢብን</a:t>
            </a:r>
            <a:r>
              <a:rPr lang="en-US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ቢን</a:t>
            </a:r>
            <a:r>
              <a:rPr lang="en-US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)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የሚያመለክተው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የዘር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ሐረግን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ለመግለጽ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እንዲሁም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ከሌላ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ግንኙነት</a:t>
            </a: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ለመግለጽ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ለምሳሌ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ብዙ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ጊዜ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</a:t>
            </a:r>
            <a:r>
              <a:rPr lang="am-ET" b="1" dirty="0" smtClean="0">
                <a:latin typeface="Power Geez Unicode1" panose="00000400000000000000" pitchFamily="2" charset="0"/>
              </a:rPr>
              <a:t>ጓ</a:t>
            </a:r>
            <a:r>
              <a:rPr lang="en-US" b="1" dirty="0" smtClean="0">
                <a:latin typeface="Power Geez Unicode1" panose="00000400000000000000" pitchFamily="2" charset="0"/>
              </a:rPr>
              <a:t>ዝ </a:t>
            </a:r>
            <a:r>
              <a:rPr lang="en-US" b="1" dirty="0" err="1" smtClean="0">
                <a:latin typeface="Power Geez Unicode1" panose="00000400000000000000" pitchFamily="2" charset="0"/>
              </a:rPr>
              <a:t>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የመንገድ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በአረብኛ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ኢብኑ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ሰቢል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ይባላል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በተጨማሪም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በሰማይ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ጥብቅ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ሰሌዳ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የመጽሐፍት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እናት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በአረብኛ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ኡም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ኪታብ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ይባላል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ስያሜ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የሚጠቀሙት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ተውራት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ዘቡር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ኢንጂልና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ቁርአን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ምንጫቸው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ሰ</a:t>
            </a:r>
            <a:r>
              <a:rPr lang="en-US" b="1" dirty="0" err="1" smtClean="0">
                <a:latin typeface="Power Geez Unicode1" panose="00000400000000000000" pitchFamily="2" charset="0"/>
              </a:rPr>
              <a:t>ማያዊ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ሰሌዳ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የተቀዱ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እንደሆነ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ሙስሊሞች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ስለሚያምኑ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4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76200"/>
            <a:ext cx="8229600" cy="1984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839200" cy="64008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ቁርአን</a:t>
            </a:r>
            <a:r>
              <a:rPr lang="en-US" sz="3400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የኢየሱስን</a:t>
            </a:r>
            <a:r>
              <a:rPr lang="en-US" sz="3400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ልጅነት</a:t>
            </a:r>
            <a:r>
              <a:rPr lang="en-US" sz="3400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የሚቃወመው</a:t>
            </a:r>
            <a:r>
              <a:rPr lang="en-US" sz="3400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ክርስቲያኖች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እርሱ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ሰብአዊ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ብለው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እንደሚያምኑ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ታሳቢ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በማድረግ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sz="3400" b="1" dirty="0" smtClean="0">
                <a:latin typeface="Power Geez Unicode1" panose="00000400000000000000" pitchFamily="2" charset="0"/>
              </a:rPr>
              <a:t>፡፡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ክርስቲያኖች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ለኢየሱስ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ሰብ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አዊ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አባቱ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ብለው</a:t>
            </a:r>
            <a:r>
              <a:rPr lang="en-US" sz="3400" b="1" dirty="0" smtClean="0"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latin typeface="Power Geez Unicode1" panose="00000400000000000000" pitchFamily="2" charset="0"/>
              </a:rPr>
              <a:t>አያምኑም</a:t>
            </a:r>
            <a:r>
              <a:rPr lang="en-US" sz="3400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3400" b="1" dirty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ሱራ</a:t>
            </a:r>
            <a:r>
              <a:rPr lang="en-US" sz="3400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112፡1-5 </a:t>
            </a:r>
            <a:r>
              <a:rPr lang="en-US" sz="3400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እንዲህ</a:t>
            </a:r>
            <a:r>
              <a:rPr lang="en-US" sz="3400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sz="3400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ይላል</a:t>
            </a:r>
            <a:r>
              <a:rPr lang="en-US" sz="3400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፡- </a:t>
            </a:r>
            <a:r>
              <a:rPr lang="am-ET" sz="3400" b="1" dirty="0"/>
              <a:t>በል </a:t>
            </a:r>
            <a:r>
              <a:rPr lang="am-ET" sz="3400" b="1" dirty="0" smtClean="0"/>
              <a:t>እርሱ </a:t>
            </a:r>
            <a:r>
              <a:rPr lang="am-ET" sz="3400" b="1" dirty="0"/>
              <a:t>አላህ አንድ ነው</a:t>
            </a:r>
            <a:r>
              <a:rPr lang="am-ET" sz="3400" b="1" dirty="0" smtClean="0"/>
              <a:t>፡፡</a:t>
            </a:r>
            <a:r>
              <a:rPr lang="en-US" sz="3400" b="1" dirty="0" smtClean="0"/>
              <a:t> </a:t>
            </a:r>
            <a:r>
              <a:rPr lang="am-ET" sz="3400" b="1" dirty="0" smtClean="0"/>
              <a:t>አላህ </a:t>
            </a:r>
            <a:r>
              <a:rPr lang="am-ET" sz="3400" b="1" dirty="0"/>
              <a:t>(የሁሉ) መጠጊያ ነው</a:t>
            </a:r>
            <a:r>
              <a:rPr lang="am-ET" sz="3400" b="1" dirty="0" smtClean="0"/>
              <a:t>፡፡አልወለደም</a:t>
            </a:r>
            <a:r>
              <a:rPr lang="am-ET" sz="3400" b="1" dirty="0"/>
              <a:t>፤ አልተወለደምም</a:t>
            </a:r>
            <a:r>
              <a:rPr lang="am-ET" sz="3400" b="1" dirty="0" smtClean="0"/>
              <a:t>፡፡ለእርሱም </a:t>
            </a:r>
            <a:r>
              <a:rPr lang="am-ET" sz="3400" b="1" dirty="0"/>
              <a:t>አንድም ብጤ የለውም</a:t>
            </a:r>
            <a:r>
              <a:rPr lang="am-ET" sz="3400" b="1" dirty="0" smtClean="0"/>
              <a:t>፡፡</a:t>
            </a:r>
            <a:endParaRPr lang="en-US" sz="3400" b="1" dirty="0" smtClean="0">
              <a:latin typeface="Power Geez Unicode1" panose="00000400000000000000" pitchFamily="2" charset="0"/>
            </a:endParaRPr>
          </a:p>
          <a:p>
            <a:pPr marL="0" indent="0" algn="just" rtl="1">
              <a:lnSpc>
                <a:spcPct val="160000"/>
              </a:lnSpc>
              <a:buNone/>
            </a:pPr>
            <a:r>
              <a:rPr lang="en-US" b="1" dirty="0"/>
              <a:t> </a:t>
            </a:r>
            <a:r>
              <a:rPr lang="ar-AE" sz="3400" b="1" dirty="0"/>
              <a:t>١- قُلْ هُوَ اللَّـهُ أَحَدٌ </a:t>
            </a:r>
            <a:r>
              <a:rPr lang="ar-AE" sz="3400" b="1" dirty="0" smtClean="0"/>
              <a:t>◯</a:t>
            </a:r>
            <a:endParaRPr lang="en-US" sz="3400" b="1" dirty="0"/>
          </a:p>
          <a:p>
            <a:pPr marL="0" indent="0" algn="just" rtl="1">
              <a:lnSpc>
                <a:spcPct val="160000"/>
              </a:lnSpc>
              <a:buNone/>
            </a:pPr>
            <a:r>
              <a:rPr lang="en-US" sz="3400" b="1" dirty="0"/>
              <a:t>٢- </a:t>
            </a:r>
            <a:r>
              <a:rPr lang="ar-AE" sz="3400" b="1" dirty="0"/>
              <a:t>اللَّـهُ الصَّمَدُ </a:t>
            </a:r>
            <a:r>
              <a:rPr lang="ar-AE" sz="3400" b="1" dirty="0" smtClean="0"/>
              <a:t>◯</a:t>
            </a:r>
            <a:endParaRPr lang="en-US" sz="3400" b="1" dirty="0"/>
          </a:p>
          <a:p>
            <a:pPr marL="0" indent="0" algn="just" rtl="1">
              <a:lnSpc>
                <a:spcPct val="160000"/>
              </a:lnSpc>
              <a:buNone/>
            </a:pPr>
            <a:r>
              <a:rPr lang="en-US" sz="3400" b="1" dirty="0" smtClean="0">
                <a:solidFill>
                  <a:srgbClr val="FF0000"/>
                </a:solidFill>
              </a:rPr>
              <a:t>٣- </a:t>
            </a:r>
            <a:r>
              <a:rPr lang="ar-AE" sz="3400" b="1" dirty="0">
                <a:solidFill>
                  <a:srgbClr val="FF0000"/>
                </a:solidFill>
              </a:rPr>
              <a:t>لَمْ يَلِدْ وَلَمْ يُولَدْ </a:t>
            </a:r>
            <a:r>
              <a:rPr lang="ar-AE" sz="3400" b="1" dirty="0" smtClean="0"/>
              <a:t>◯</a:t>
            </a:r>
            <a:endParaRPr lang="en-US" sz="3400" b="1" dirty="0"/>
          </a:p>
          <a:p>
            <a:pPr marL="0" indent="0" algn="just" rtl="1">
              <a:buNone/>
            </a:pPr>
            <a:r>
              <a:rPr lang="en-US" sz="3400" b="1" dirty="0"/>
              <a:t>٤- </a:t>
            </a:r>
            <a:r>
              <a:rPr lang="ar-AE" sz="3400" b="1" dirty="0"/>
              <a:t>وَلَمْ يَكُن لَّهُ كُفُوًا أَحَدٌ 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491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763000" cy="62484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ቁርአን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ጥቅስ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የሚቃወመው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አላህ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በባልና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በሚስት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መካከል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በሚደረግ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ተራክቦ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አልወለደም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በዚህም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መንገድ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ራሱም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አይወለድም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አይነትን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ትምህርት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ይቃወማል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በሱራ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72፡3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ተመሳሳይ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ሐሳብ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፡- </a:t>
            </a:r>
            <a:r>
              <a:rPr lang="am-ET" b="1" dirty="0" smtClean="0"/>
              <a:t>እነሆም </a:t>
            </a:r>
            <a:r>
              <a:rPr lang="am-ET" b="1" dirty="0"/>
              <a:t>የጌታችን ክብር ላቀ፡፡ </a:t>
            </a:r>
            <a:r>
              <a:rPr lang="am-ET" b="1" dirty="0">
                <a:solidFill>
                  <a:srgbClr val="7030A0"/>
                </a:solidFill>
              </a:rPr>
              <a:t>ሚስትንም ልጅንም አልያዘም</a:t>
            </a:r>
            <a:r>
              <a:rPr lang="am-ET" b="1" dirty="0" smtClean="0">
                <a:solidFill>
                  <a:srgbClr val="7030A0"/>
                </a:solidFill>
              </a:rPr>
              <a:t>፡፡</a:t>
            </a:r>
            <a:endParaRPr lang="en-US" b="1" dirty="0" smtClean="0">
              <a:solidFill>
                <a:srgbClr val="7030A0"/>
              </a:solidFill>
              <a:latin typeface="Power Geez Unicode1" panose="00000400000000000000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r-AE" b="1" dirty="0">
                <a:latin typeface="Power Geez Unicode1" panose="00000400000000000000" pitchFamily="2" charset="0"/>
              </a:rPr>
              <a:t>وَأَنَّهُ تَعَالَىٰ جَدُّ رَبِّنَا </a:t>
            </a:r>
            <a:r>
              <a:rPr lang="ar-AE" b="1" dirty="0">
                <a:solidFill>
                  <a:srgbClr val="7030A0"/>
                </a:solidFill>
                <a:latin typeface="Power Geez Unicode1" panose="00000400000000000000" pitchFamily="2" charset="0"/>
              </a:rPr>
              <a:t>مَا اتَّخَذَ صَاحِبَةً وَلَا وَلَدًا(3</a:t>
            </a:r>
            <a:r>
              <a:rPr lang="ar-AE" b="1" dirty="0">
                <a:latin typeface="Power Geez Unicode1" panose="00000400000000000000" pitchFamily="2" charset="0"/>
              </a:rPr>
              <a:t>)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9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915400" cy="63246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በሱራ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23፡91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b="1" dirty="0">
                <a:solidFill>
                  <a:srgbClr val="7030A0"/>
                </a:solidFill>
              </a:rPr>
              <a:t>አላህ ምንም ልጅን አልያዘም (አልወለደም)፡፡ </a:t>
            </a:r>
            <a:r>
              <a:rPr lang="am-ET" b="1" dirty="0"/>
              <a:t>ከእርሱም ጋር አንድም አምላክ የለም፡፡ ያን ጊዜ (ሌላ አምላክ በነበረ) አምላክ ሁሉ በፈጠረው ነገር በተለየ ነበር፡፡ ከፊላቸውም በከፊሉ ለይ በላቀ ነበር፡፡ አላህ ከሚመጥኑት ሁሉ ጠራ</a:t>
            </a:r>
            <a:r>
              <a:rPr lang="am-ET" b="1" dirty="0" smtClean="0"/>
              <a:t>፡፡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r-AE" b="1" dirty="0">
                <a:solidFill>
                  <a:srgbClr val="7030A0"/>
                </a:solidFill>
                <a:latin typeface="Power Geez Unicode1" panose="00000400000000000000" pitchFamily="2" charset="0"/>
              </a:rPr>
              <a:t>مَا اتَّخَذَ اللَّهُ مِنْ وَلَدٍ </a:t>
            </a:r>
            <a:r>
              <a:rPr lang="ar-AE" b="1" dirty="0">
                <a:latin typeface="Power Geez Unicode1" panose="00000400000000000000" pitchFamily="2" charset="0"/>
              </a:rPr>
              <a:t>وَمَا كَانَ مَعَهُ مِنْ إِلَٰهٍ ۚ إِذًا لَذَهَبَ كُلُّ إِلَٰهٍ بِمَا خَلَقَ وَلَعَلَا بَعْضُهُمْ عَلَىٰ بَعْضٍ ۚ سُبْحَانَ اللَّهِ عَمَّا يَصِفُونَ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9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600"/>
            <a:ext cx="8229600" cy="46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915400" cy="6324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ሱራ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19:35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ሰብአዊ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እንዳልሆነ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am-ET" b="1" dirty="0">
                <a:solidFill>
                  <a:srgbClr val="7030A0"/>
                </a:solidFill>
              </a:rPr>
              <a:t>ለአላህ ልጅን መያዝ አይገባውም</a:t>
            </a:r>
            <a:r>
              <a:rPr lang="am-ET" b="1" dirty="0"/>
              <a:t>፡፡ (ከጉድለት ሁሉ) ጠራ፡፡ ነገርን በሻ ጊዜ ለርሱ የሚለው «ኹን» ነው ወዲያውም ይኾናል</a:t>
            </a:r>
            <a:r>
              <a:rPr lang="am-ET" b="1" dirty="0" smtClean="0"/>
              <a:t>፡፡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r-AE" b="1" dirty="0">
                <a:solidFill>
                  <a:srgbClr val="7030A0"/>
                </a:solidFill>
                <a:latin typeface="Power Geez Unicode1" panose="00000400000000000000" pitchFamily="2" charset="0"/>
              </a:rPr>
              <a:t>مَا كَانَ لِلَّهِ أَنْ يَتَّخِذَ مِنْ وَلَدٍ </a:t>
            </a:r>
            <a:r>
              <a:rPr lang="ar-AE" b="1" dirty="0">
                <a:latin typeface="Power Geez Unicode1" panose="00000400000000000000" pitchFamily="2" charset="0"/>
              </a:rPr>
              <a:t>ۖ سُبْحَانَهُ ۚ إِذَا قَضَىٰ أَمْرًا فَإِنَّمَا يَقُولُ لَهُ كُنْ </a:t>
            </a:r>
            <a:r>
              <a:rPr lang="ar-AE" b="1" dirty="0" smtClean="0">
                <a:latin typeface="Power Geez Unicode1" panose="00000400000000000000" pitchFamily="2" charset="0"/>
              </a:rPr>
              <a:t>فَيَكُونُ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በ</a:t>
            </a:r>
            <a:r>
              <a:rPr lang="en-US" b="1" dirty="0" err="1" smtClean="0">
                <a:latin typeface="Power Geez Unicode1" panose="00000400000000000000" pitchFamily="2" charset="0"/>
              </a:rPr>
              <a:t>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ወለዲን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የአረብኛ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ተጠቅሞአል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ከስጋዊ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ውልደት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የተያያዘ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19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600"/>
            <a:ext cx="8229600" cy="460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15400" cy="64008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ሱራ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43፡81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አላህ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ቢኖረው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ከሚያመልኩት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የመጀመሪያው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በላቸው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am-ET" b="1" dirty="0" smtClean="0"/>
              <a:t>ለአልረሕማን </a:t>
            </a:r>
            <a:r>
              <a:rPr lang="am-ET" b="1" dirty="0">
                <a:solidFill>
                  <a:srgbClr val="7030A0"/>
                </a:solidFill>
              </a:rPr>
              <a:t>ልጅ (የለውም እንጅ) ቢኖረው እኔ (ለልጁ) </a:t>
            </a:r>
            <a:r>
              <a:rPr lang="am-ET" b="1" dirty="0"/>
              <a:t>የተገዢዎቹ መጀመሪያ </a:t>
            </a:r>
            <a:r>
              <a:rPr lang="am-ET" b="1" dirty="0" smtClean="0"/>
              <a:t>ነኝ </a:t>
            </a:r>
            <a:r>
              <a:rPr lang="am-ET" b="1" dirty="0"/>
              <a:t>በላቸው</a:t>
            </a:r>
            <a:r>
              <a:rPr lang="am-ET" b="1" dirty="0" smtClean="0"/>
              <a:t>፡፡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r-AE" b="1" dirty="0">
                <a:latin typeface="Power Geez Unicode1" panose="00000400000000000000" pitchFamily="2" charset="0"/>
              </a:rPr>
              <a:t>قُلْ إِنْ كَانَ لِلرَّحْمَٰنِ </a:t>
            </a:r>
            <a:r>
              <a:rPr lang="ar-AE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وَلَد</a:t>
            </a:r>
            <a:r>
              <a:rPr lang="ar-AE" b="1" dirty="0">
                <a:latin typeface="Power Geez Unicode1" panose="00000400000000000000" pitchFamily="2" charset="0"/>
              </a:rPr>
              <a:t>ٌ فَأَنَا أَوَّلُ </a:t>
            </a:r>
            <a:r>
              <a:rPr lang="ar-AE" b="1" dirty="0" smtClean="0">
                <a:latin typeface="Power Geez Unicode1" panose="00000400000000000000" pitchFamily="2" charset="0"/>
              </a:rPr>
              <a:t>الْعَابِدِينَ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 err="1" smtClean="0">
                <a:latin typeface="Power Geez Unicode1" panose="00000400000000000000" pitchFamily="2" charset="0"/>
              </a:rPr>
              <a:t>አሁንም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ወለድ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የአረብኛ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ተጠቅሞአል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09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15400" cy="6477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ሱራ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2፡116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am-ET" b="1" dirty="0">
                <a:solidFill>
                  <a:srgbClr val="7030A0"/>
                </a:solidFill>
              </a:rPr>
              <a:t>አላህም ልጅ አለው አሉ</a:t>
            </a:r>
            <a:r>
              <a:rPr lang="am-ET" b="1" dirty="0"/>
              <a:t>፡፡ (ከሚሉት) ጥራት ተገባው፡፡ አይደለም በሰማያትና በምድር ያለው ሁሉ የርሱ ነው፡፡ ሁሉም ለርሱ ታዛዦች ናቸው</a:t>
            </a:r>
            <a:r>
              <a:rPr lang="am-ET" b="1" dirty="0" smtClean="0"/>
              <a:t>፡፡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r-AE" b="1" dirty="0">
                <a:latin typeface="Power Geez Unicode1" panose="00000400000000000000" pitchFamily="2" charset="0"/>
              </a:rPr>
              <a:t>وَقَالُوا اتَّخَذَ اللَّهُ </a:t>
            </a:r>
            <a:r>
              <a:rPr lang="ar-AE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وَلَدًا ۗ</a:t>
            </a:r>
            <a:r>
              <a:rPr lang="ar-AE" b="1" dirty="0">
                <a:latin typeface="Power Geez Unicode1" panose="00000400000000000000" pitchFamily="2" charset="0"/>
              </a:rPr>
              <a:t> سُبْحَانَهُ ۖ بَلْ لَهُ مَا فِي السَّمَاوَاتِ وَالْأَرْضِ ۖ كُلٌّ لَهُ قَانِتُونَ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79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991600" cy="65532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ሱራ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21፡26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b="1" dirty="0" smtClean="0">
                <a:latin typeface="Power Geez Unicode1" panose="00000400000000000000" pitchFamily="2" charset="0"/>
              </a:rPr>
              <a:t>፡-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am-ET" b="1" dirty="0" smtClean="0">
                <a:solidFill>
                  <a:srgbClr val="7030A0"/>
                </a:solidFill>
              </a:rPr>
              <a:t>አልረሕማንም </a:t>
            </a:r>
            <a:r>
              <a:rPr lang="am-ET" b="1" dirty="0">
                <a:solidFill>
                  <a:srgbClr val="7030A0"/>
                </a:solidFill>
              </a:rPr>
              <a:t>(ከመላእክት) ልጅን </a:t>
            </a:r>
            <a:r>
              <a:rPr lang="am-ET" b="1" dirty="0" smtClean="0">
                <a:solidFill>
                  <a:srgbClr val="7030A0"/>
                </a:solidFill>
              </a:rPr>
              <a:t>ያዘ </a:t>
            </a:r>
            <a:r>
              <a:rPr lang="am-ET" b="1" dirty="0">
                <a:solidFill>
                  <a:srgbClr val="7030A0"/>
                </a:solidFill>
              </a:rPr>
              <a:t>አሉ</a:t>
            </a:r>
            <a:r>
              <a:rPr lang="am-ET" b="1" dirty="0"/>
              <a:t>፡፡ ጥራት ተገባው፡፡ አይደለም (መላእክት) የተከበሩ ባሮች ናቸው</a:t>
            </a:r>
            <a:r>
              <a:rPr lang="am-ET" b="1" dirty="0" smtClean="0"/>
              <a:t>፡፡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r-AE" b="1" dirty="0">
                <a:latin typeface="Power Geez Unicode1" panose="00000400000000000000" pitchFamily="2" charset="0"/>
              </a:rPr>
              <a:t>وَقَالُوا اتَّخَذَ الرَّحْمَٰنُ </a:t>
            </a:r>
            <a:r>
              <a:rPr lang="ar-AE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وَلَدًا ۗ </a:t>
            </a:r>
            <a:r>
              <a:rPr lang="ar-AE" b="1" dirty="0">
                <a:latin typeface="Power Geez Unicode1" panose="00000400000000000000" pitchFamily="2" charset="0"/>
              </a:rPr>
              <a:t>سُبْحَانَهُ ۚ بَلْ عِبَادٌ مُكْرَمُونَ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47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915400" cy="662940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4600" b="1" dirty="0" err="1" smtClean="0">
                <a:latin typeface="Power Geez Unicode1" panose="00000400000000000000" pitchFamily="2" charset="0"/>
              </a:rPr>
              <a:t>ሱራ</a:t>
            </a:r>
            <a:r>
              <a:rPr lang="en-US" sz="4600" b="1" dirty="0" smtClean="0">
                <a:latin typeface="Power Geez Unicode1" panose="00000400000000000000" pitchFamily="2" charset="0"/>
              </a:rPr>
              <a:t> </a:t>
            </a:r>
            <a:r>
              <a:rPr lang="en-US" sz="4600" b="1" dirty="0" smtClean="0">
                <a:latin typeface="Power Geez Unicode1" panose="00000400000000000000" pitchFamily="2" charset="0"/>
              </a:rPr>
              <a:t>39፡4 </a:t>
            </a:r>
            <a:r>
              <a:rPr lang="en-US" sz="4600" b="1" dirty="0" err="1" smtClean="0">
                <a:latin typeface="Power Geez Unicode1" panose="00000400000000000000" pitchFamily="2" charset="0"/>
              </a:rPr>
              <a:t>እንዲህ</a:t>
            </a:r>
            <a:r>
              <a:rPr lang="en-US" sz="4600" b="1" dirty="0" smtClean="0">
                <a:latin typeface="Power Geez Unicode1" panose="00000400000000000000" pitchFamily="2" charset="0"/>
              </a:rPr>
              <a:t> </a:t>
            </a:r>
            <a:r>
              <a:rPr lang="en-US" sz="4600" b="1" dirty="0" err="1" smtClean="0">
                <a:latin typeface="Power Geez Unicode1" panose="00000400000000000000" pitchFamily="2" charset="0"/>
              </a:rPr>
              <a:t>ይላል</a:t>
            </a:r>
            <a:r>
              <a:rPr lang="en-US" sz="4600" b="1" dirty="0" smtClean="0">
                <a:latin typeface="Power Geez Unicode1" panose="00000400000000000000" pitchFamily="2" charset="0"/>
              </a:rPr>
              <a:t>፡-</a:t>
            </a:r>
            <a:endParaRPr lang="en-US" sz="4600" b="1" dirty="0">
              <a:latin typeface="Power Geez Unicode1" panose="00000400000000000000" pitchFamily="2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am-ET" b="1" dirty="0"/>
              <a:t>አላህ ልጅን መያዝ በፈለገ ኖሮ ከሚፈጥረው ውስጥ የሚሻውን ይመርጥ ነበር፡፡ ጥራት ተገባው፡፡ እርሱ አሸናፊው አንዱ አላህ ነው</a:t>
            </a:r>
            <a:r>
              <a:rPr lang="am-ET" b="1" dirty="0" smtClean="0"/>
              <a:t>፡፡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ar-AE" b="1" dirty="0">
                <a:latin typeface="Power Geez Unicode1" panose="00000400000000000000" pitchFamily="2" charset="0"/>
              </a:rPr>
              <a:t>لَوْ أَرَادَ اللَّهُ أَنْ يَتَّخِذَ </a:t>
            </a:r>
            <a:r>
              <a:rPr lang="ar-AE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وَلَدًا</a:t>
            </a:r>
            <a:r>
              <a:rPr lang="ar-AE" b="1" dirty="0">
                <a:latin typeface="Power Geez Unicode1" panose="00000400000000000000" pitchFamily="2" charset="0"/>
              </a:rPr>
              <a:t> لَاصْطَفَىٰ مِمَّا يَخْلُقُ مَا يَشَاءُ ۚ سُبْحَانَهُ ۖ هُوَ اللَّهُ الْوَاحِدُ </a:t>
            </a:r>
            <a:r>
              <a:rPr lang="ar-AE" b="1" dirty="0" smtClean="0">
                <a:latin typeface="Power Geez Unicode1" panose="00000400000000000000" pitchFamily="2" charset="0"/>
              </a:rPr>
              <a:t>الْقَهَّارُ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b="1" dirty="0" err="1" smtClean="0">
                <a:latin typeface="Power Geez Unicode1" panose="00000400000000000000" pitchFamily="2" charset="0"/>
              </a:rPr>
              <a:t>ከላይ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ከተጠቀሱት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የቁርአል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በተጨማሪ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ወለድ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በመጠቀም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አላህ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ከ</a:t>
            </a:r>
            <a:r>
              <a:rPr lang="en-US" b="1" dirty="0" err="1" smtClean="0">
                <a:latin typeface="Power Geez Unicode1" panose="00000400000000000000" pitchFamily="2" charset="0"/>
              </a:rPr>
              <a:t>ሰብአዊ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ፍጥረት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ግንኙነት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በመፍጠር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የወለደው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አንደሌለ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ቀጥሎ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ባሉት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ጥቅሶችም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ይህንን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አጠንክሮ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ይናገራል</a:t>
            </a:r>
            <a:r>
              <a:rPr lang="en-US" b="1" dirty="0" smtClean="0">
                <a:latin typeface="Power Geez Unicode1" panose="00000400000000000000" pitchFamily="2" charset="0"/>
              </a:rPr>
              <a:t> - </a:t>
            </a:r>
            <a:r>
              <a:rPr lang="en-US" b="1" dirty="0" err="1" smtClean="0">
                <a:latin typeface="Power Geez Unicode1" panose="00000400000000000000" pitchFamily="2" charset="0"/>
              </a:rPr>
              <a:t>ሱራ</a:t>
            </a:r>
            <a:r>
              <a:rPr lang="en-US" b="1" dirty="0" smtClean="0">
                <a:latin typeface="Power Geez Unicode1" panose="00000400000000000000" pitchFamily="2" charset="0"/>
              </a:rPr>
              <a:t> 6:100-101፣ 10:68፣ 17:111፣ 18:4፣ 19:88፣ 25:2፣ 37:151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latin typeface="Power Geez Unicode1" panose="00000400000000000000" pitchFamily="2" charset="0"/>
              </a:rPr>
              <a:t>  43:16፡፡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32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915400" cy="64770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2.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የኢየሱስ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በመጽሐፍ</a:t>
            </a:r>
            <a:r>
              <a:rPr lang="en-US" b="1" dirty="0" smtClean="0">
                <a:solidFill>
                  <a:srgbClr val="FF000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Power Geez Unicode1" panose="00000400000000000000" pitchFamily="2" charset="0"/>
              </a:rPr>
              <a:t>ቅዱስ</a:t>
            </a:r>
            <a:endParaRPr lang="en-US" b="1" dirty="0" smtClean="0">
              <a:solidFill>
                <a:srgbClr val="FF0000"/>
              </a:solidFill>
              <a:latin typeface="Power Geez Unicode1" panose="00000400000000000000" pitchFamily="2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ሀ)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ስለኢየሱስ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የመጽሐፍ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ክፍሎች</a:t>
            </a:r>
            <a:endParaRPr lang="en-US" b="1" dirty="0" smtClean="0">
              <a:solidFill>
                <a:srgbClr val="00B050"/>
              </a:solidFill>
              <a:latin typeface="Power Geez Unicode1" panose="00000400000000000000" pitchFamily="2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በብሉይ</a:t>
            </a:r>
            <a:r>
              <a:rPr lang="en-US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ኪዳን</a:t>
            </a:r>
            <a:r>
              <a:rPr lang="en-US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ስለ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እንደ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አዲስ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ኪዳን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በተብራራ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መንገድ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ባይጻፍም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ስለ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ልጅነቱና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ከአብ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ስላለው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ልዩ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ግንኙነት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ትንቢቶችና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አመልካች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ነገሮች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ተጽፎአል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ከእነዚህም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ለምሳሌ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፡-</a:t>
            </a:r>
          </a:p>
          <a:p>
            <a:pPr algn="just">
              <a:lnSpc>
                <a:spcPct val="160000"/>
              </a:lnSpc>
              <a:buFontTx/>
              <a:buChar char="-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መዝ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2፡7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ላይ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አንተ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ልጄ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ነህ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ተብሎ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የተጻፈው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ሐሳብ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በዕብ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1፡5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ሐዋ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13፡33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የመሲሁ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ለማሳየት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እንደሆነ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የአዲስ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ኪዳን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ጸሐፍት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Power Geez Unicode1" panose="00000400000000000000" pitchFamily="2" charset="0"/>
              </a:rPr>
              <a:t>ተጠቅመውታል</a:t>
            </a:r>
            <a:r>
              <a:rPr lang="en-US" b="1" dirty="0" smtClean="0">
                <a:solidFill>
                  <a:schemeClr val="tx1"/>
                </a:solidFill>
                <a:latin typeface="Power Geez Unicode1" panose="00000400000000000000" pitchFamily="2" charset="0"/>
              </a:rPr>
              <a:t>፡፡</a:t>
            </a:r>
          </a:p>
        </p:txBody>
      </p:sp>
    </p:spTree>
    <p:extLst>
      <p:ext uri="{BB962C8B-B14F-4D97-AF65-F5344CB8AC3E}">
        <p14:creationId xmlns:p14="http://schemas.microsoft.com/office/powerpoint/2010/main" val="197626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686800" cy="76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28600"/>
            <a:ext cx="9067800" cy="6629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 smtClean="0">
              <a:solidFill>
                <a:srgbClr val="00B050"/>
              </a:solidFill>
              <a:latin typeface="Power Geez Unicode1" panose="00000400000000000000" pitchFamily="2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2ኛሳሙ </a:t>
            </a:r>
            <a:r>
              <a:rPr lang="en-US" b="1" dirty="0">
                <a:solidFill>
                  <a:srgbClr val="00B050"/>
                </a:solidFill>
                <a:latin typeface="Power Geez Unicode1" panose="00000400000000000000" pitchFamily="2" charset="0"/>
              </a:rPr>
              <a:t>7፡14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እኔ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አባት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እሆነዋለሁ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እርሱም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ልጅ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ይሆነኛል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የሚለው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ሐሳብ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እግዚአብሄር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ከዳዊት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ጋር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ያደረገውን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ቃል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ኪዳን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የሚያመለክት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ሲሆን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በዳዊት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ዙፋን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የሚቀመጠው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መሲሁ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)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የእግዚአብሄር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ልጅ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እንደሆነ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 panose="00000400000000000000" pitchFamily="2" charset="0"/>
              </a:rPr>
              <a:t>ያመለክታል</a:t>
            </a:r>
            <a:r>
              <a:rPr lang="en-US" b="1" dirty="0">
                <a:solidFill>
                  <a:schemeClr val="tx1"/>
                </a:solidFill>
                <a:latin typeface="Power Geez Unicode1" panose="00000400000000000000" pitchFamily="2" charset="0"/>
              </a:rPr>
              <a:t>፡፡ </a:t>
            </a:r>
            <a:endParaRPr lang="en-US" b="1" dirty="0" smtClean="0">
              <a:solidFill>
                <a:schemeClr val="tx1"/>
              </a:solidFill>
              <a:latin typeface="Power Geez Unicode1" panose="00000400000000000000" pitchFamily="2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 err="1" smtClean="0">
                <a:latin typeface="Power Geez Unicode1" panose="00000400000000000000" pitchFamily="2" charset="0"/>
              </a:rPr>
              <a:t>በብሉይ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ኪዳን</a:t>
            </a:r>
            <a:r>
              <a:rPr lang="en-US" b="1" dirty="0" smtClean="0">
                <a:latin typeface="Power Geez Unicode1" panose="00000400000000000000" pitchFamily="2" charset="0"/>
              </a:rPr>
              <a:t> (</a:t>
            </a:r>
            <a:r>
              <a:rPr lang="en-US" b="1" dirty="0" err="1" smtClean="0">
                <a:latin typeface="Power Geez Unicode1" panose="00000400000000000000" pitchFamily="2" charset="0"/>
              </a:rPr>
              <a:t>መዝ</a:t>
            </a:r>
            <a:r>
              <a:rPr lang="en-US" b="1" dirty="0" smtClean="0">
                <a:latin typeface="Power Geez Unicode1" panose="00000400000000000000" pitchFamily="2" charset="0"/>
              </a:rPr>
              <a:t> 82:6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ዘጸ</a:t>
            </a:r>
            <a:r>
              <a:rPr lang="en-US" b="1" dirty="0" smtClean="0">
                <a:latin typeface="Power Geez Unicode1" panose="00000400000000000000" pitchFamily="2" charset="0"/>
              </a:rPr>
              <a:t> 4:22)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መላዕክቶች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የእስራኤል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ህዝብና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ነገስታት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በዘይቤያዊ</a:t>
            </a:r>
            <a:r>
              <a:rPr lang="en-US" b="1" dirty="0" smtClean="0">
                <a:latin typeface="Power Geez Unicode1" panose="00000400000000000000" pitchFamily="2" charset="0"/>
              </a:rPr>
              <a:t> 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መንገድ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መንፈሳዊ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ልጆች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ተብለዋል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ነገር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ልጅነትን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ስልጣን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አልተሰጣቸውም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9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45719"/>
            <a:ext cx="86868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28600"/>
            <a:ext cx="8915400" cy="68580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4600" dirty="0" smtClean="0">
                <a:solidFill>
                  <a:srgbClr val="7030A0"/>
                </a:solidFill>
              </a:rPr>
              <a:t> </a:t>
            </a:r>
            <a:r>
              <a:rPr lang="en-US" sz="4600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በአዲስ</a:t>
            </a:r>
            <a:r>
              <a:rPr lang="en-US" sz="4600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sz="4600" b="1" dirty="0" err="1" smtClean="0">
                <a:solidFill>
                  <a:srgbClr val="7030A0"/>
                </a:solidFill>
                <a:latin typeface="Power Geez Unicode1" panose="00000400000000000000" pitchFamily="2" charset="0"/>
              </a:rPr>
              <a:t>ኪዳን</a:t>
            </a:r>
            <a:r>
              <a:rPr lang="en-US" sz="4600" b="1" dirty="0" smtClean="0">
                <a:solidFill>
                  <a:srgbClr val="7030A0"/>
                </a:solidFill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ሌሎች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አካላት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ልጅነቱ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የተናገሩትን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ብዙ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ቦታ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ተጠቅሶአል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ማር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1፡1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ማርቆስ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ሉቃ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1፡ 32 </a:t>
            </a: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35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የልኡል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መልአኩ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ገብርኤል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20፡31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ሐዋሪያው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ዮሐንስ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3፡16-18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አንድያ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ልጁን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በልጁ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በአንዱ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5፡ 17-18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አባቴ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1፡18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በአባቱ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እቅፍ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አንድ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ልጁ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ሐዋሪያው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ዮሐንስ</a:t>
            </a:r>
            <a:endParaRPr lang="en-US" b="1" dirty="0" smtClean="0">
              <a:latin typeface="Power Geez Unicode1" panose="00000400000000000000" pitchFamily="2" charset="0"/>
            </a:endParaRPr>
          </a:p>
          <a:p>
            <a:pPr>
              <a:buFontTx/>
              <a:buChar char="-"/>
            </a:pPr>
            <a:r>
              <a:rPr 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0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45719"/>
            <a:ext cx="86868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9067800" cy="65532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ሮሜ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1፡3-4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ሐዋሪያው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ጳውሎስ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ማቴ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17፡5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የምወደው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ልጄ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5፡21-23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ወልድ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1ኛ ዮሐ5፡20 </a:t>
            </a:r>
            <a:r>
              <a:rPr lang="en-US" b="1" dirty="0" smtClean="0">
                <a:latin typeface="Power Geez Unicode1" panose="00000400000000000000" pitchFamily="2" charset="0"/>
              </a:rPr>
              <a:t>(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ልጁ</a:t>
            </a:r>
            <a:r>
              <a:rPr lang="en-US" b="1" dirty="0" smtClean="0">
                <a:latin typeface="Power Geez Unicode1" panose="00000400000000000000" pitchFamily="2" charset="0"/>
              </a:rPr>
              <a:t>) - </a:t>
            </a:r>
            <a:r>
              <a:rPr lang="en-US" b="1" dirty="0" err="1" smtClean="0">
                <a:latin typeface="Power Geez Unicode1" panose="00000400000000000000" pitchFamily="2" charset="0"/>
              </a:rPr>
              <a:t>ተናጋሪው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ሐዋሪያው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ዮሐንስ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latin typeface="Power Geez Unicode1" panose="00000400000000000000" pitchFamily="2" charset="0"/>
              </a:rPr>
              <a:t>ከላይ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ከተጠቀሱት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በላይ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ስለኢየሱስ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የሚጠቅሱ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የአዲስ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ኪዳን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ክፍሎች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አሉ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18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45719"/>
            <a:ext cx="86868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991600" cy="71628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46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ለ) </a:t>
            </a:r>
            <a:r>
              <a:rPr lang="en-US" sz="46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የቃሉ</a:t>
            </a:r>
            <a:r>
              <a:rPr lang="en-US" sz="46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46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ትርጉም</a:t>
            </a:r>
            <a:endParaRPr lang="en-US" sz="4600" b="1" dirty="0" smtClean="0">
              <a:solidFill>
                <a:srgbClr val="00B050"/>
              </a:solidFill>
              <a:latin typeface="Power Geez Unicode1" panose="00000400000000000000" pitchFamily="2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ስንል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ምን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 err="1" smtClean="0">
                <a:latin typeface="Power Geez Unicode1" panose="00000400000000000000" pitchFamily="2" charset="0"/>
              </a:rPr>
              <a:t>የእግዚአብሄር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ሐረግ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ብዙ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ጽንሰ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ሐሳቦችን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የያዘ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b="1" dirty="0" err="1" smtClean="0">
                <a:latin typeface="Power Geez Unicode1" panose="00000400000000000000" pitchFamily="2" charset="0"/>
              </a:rPr>
              <a:t>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ክርስቶስ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ከፍጥረት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በፊት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ከዘላለም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ጀምሮ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አካል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መሆኑን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ከአብ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ግንኙነት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እንደነበረውና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አሁንም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እንዳለው</a:t>
            </a:r>
            <a:r>
              <a:rPr lang="en-US" b="1" dirty="0" smtClean="0">
                <a:latin typeface="Power Geez Unicode1" panose="00000400000000000000" pitchFamily="2" charset="0"/>
              </a:rPr>
              <a:t>፣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በባህርይና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በመለኮት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ከአብ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እኩል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የሆነ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እንዲሁም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ከዘላለም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ጀምሮ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መሆኑን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የሚያሳይ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(</a:t>
            </a:r>
            <a:r>
              <a:rPr lang="en-US" b="1" dirty="0" err="1" smtClean="0"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latin typeface="Power Geez Unicode1" panose="00000400000000000000" pitchFamily="2" charset="0"/>
              </a:rPr>
              <a:t> 1፡1-3)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b="1" dirty="0" err="1" smtClean="0">
                <a:latin typeface="Power Geez Unicode1" panose="00000400000000000000" pitchFamily="2" charset="0"/>
              </a:rPr>
              <a:t>በሰው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ህይወት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በአባትና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መካከል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ያለውን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ግንኙነት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የተቀዳው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ከዘላለም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በፊት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ጀምሮ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በአብና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በወልድ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መካከል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ባለው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ግንኙነት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(</a:t>
            </a:r>
            <a:r>
              <a:rPr lang="en-US" b="1" dirty="0" err="1" smtClean="0">
                <a:latin typeface="Power Geez Unicode1" panose="00000400000000000000" pitchFamily="2" charset="0"/>
              </a:rPr>
              <a:t>ሮሜ</a:t>
            </a:r>
            <a:r>
              <a:rPr lang="en-US" b="1" dirty="0" smtClean="0">
                <a:latin typeface="Power Geez Unicode1" panose="00000400000000000000" pitchFamily="2" charset="0"/>
              </a:rPr>
              <a:t> 8፡29)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48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52400"/>
            <a:ext cx="8229600" cy="122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82" y="457200"/>
            <a:ext cx="8970818" cy="630381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latin typeface="Power Geez Unicode1" panose="00000400000000000000" pitchFamily="2" charset="0"/>
              </a:rPr>
              <a:t>3.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የክርስቲያኖች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መንፈሳዊ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ስልጣን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ያገኘነው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ልጁ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ወደ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አለም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በመላክ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ለእኛ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ኃጢአት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በመሞቱ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ነው</a:t>
            </a:r>
            <a:r>
              <a:rPr lang="en-US" b="1" dirty="0" smtClean="0">
                <a:latin typeface="Power Geez Unicode1" panose="00000400000000000000" pitchFamily="2" charset="0"/>
              </a:rPr>
              <a:t>፡፡ (</a:t>
            </a:r>
            <a:r>
              <a:rPr lang="en-US" b="1" dirty="0" err="1" smtClean="0">
                <a:latin typeface="Power Geez Unicode1" panose="00000400000000000000" pitchFamily="2" charset="0"/>
              </a:rPr>
              <a:t>ገላ</a:t>
            </a:r>
            <a:r>
              <a:rPr lang="en-US" b="1" dirty="0" smtClean="0">
                <a:latin typeface="Power Geez Unicode1" panose="00000400000000000000" pitchFamily="2" charset="0"/>
              </a:rPr>
              <a:t> 4፡3-7፣ </a:t>
            </a:r>
            <a:r>
              <a:rPr lang="en-US" b="1" dirty="0" err="1" smtClean="0">
                <a:latin typeface="Power Geez Unicode1" panose="00000400000000000000" pitchFamily="2" charset="0"/>
              </a:rPr>
              <a:t>ዮሐ</a:t>
            </a:r>
            <a:r>
              <a:rPr lang="en-US" b="1" dirty="0" smtClean="0">
                <a:latin typeface="Power Geez Unicode1" panose="00000400000000000000" pitchFamily="2" charset="0"/>
              </a:rPr>
              <a:t> 1፡12)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>
                <a:latin typeface="Power Geez Unicode1" panose="00000400000000000000" pitchFamily="2" charset="0"/>
              </a:rPr>
              <a:t>4.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በሉቃ</a:t>
            </a:r>
            <a:r>
              <a:rPr lang="en-US" b="1" dirty="0" smtClean="0">
                <a:latin typeface="Power Geez Unicode1" panose="00000400000000000000" pitchFamily="2" charset="0"/>
              </a:rPr>
              <a:t> 1፡32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እና</a:t>
            </a:r>
            <a:r>
              <a:rPr lang="en-US" b="1" dirty="0" smtClean="0">
                <a:latin typeface="Power Geez Unicode1" panose="00000400000000000000" pitchFamily="2" charset="0"/>
              </a:rPr>
              <a:t> 35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መሰረት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መሲሁ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የዳዊትን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ዙፋን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እንደሚወርስ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>
                <a:latin typeface="Power Geez Unicode1" panose="00000400000000000000" pitchFamily="2" charset="0"/>
              </a:rPr>
              <a:t>ከ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ልጅነቱ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በማያያዝ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ይገልጻል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b="1" dirty="0" smtClean="0">
              <a:latin typeface="Power Geez Unicode1" panose="00000400000000000000" pitchFamily="2" charset="0"/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83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45719"/>
            <a:ext cx="86868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28600"/>
            <a:ext cx="9067800" cy="66294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46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ሐ) </a:t>
            </a:r>
            <a:r>
              <a:rPr lang="en-US" sz="46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ይህንን</a:t>
            </a:r>
            <a:r>
              <a:rPr lang="en-US" sz="46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46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እውነት</a:t>
            </a:r>
            <a:r>
              <a:rPr lang="en-US" sz="46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46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ለሙስሊሞች</a:t>
            </a:r>
            <a:r>
              <a:rPr lang="en-US" sz="46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46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እንዴት</a:t>
            </a:r>
            <a:r>
              <a:rPr lang="en-US" sz="4600" b="1" dirty="0" smtClean="0">
                <a:solidFill>
                  <a:srgbClr val="00B050"/>
                </a:solidFill>
                <a:latin typeface="Power Geez Unicode1" panose="00000400000000000000" pitchFamily="2" charset="0"/>
              </a:rPr>
              <a:t> </a:t>
            </a:r>
            <a:r>
              <a:rPr lang="en-US" sz="4600" b="1" dirty="0" err="1" smtClean="0">
                <a:solidFill>
                  <a:srgbClr val="00B050"/>
                </a:solidFill>
                <a:latin typeface="Power Geez Unicode1" panose="00000400000000000000" pitchFamily="2" charset="0"/>
              </a:rPr>
              <a:t>እናስረዳቸው</a:t>
            </a:r>
            <a:endParaRPr lang="en-US" sz="4600" b="1" dirty="0" smtClean="0">
              <a:solidFill>
                <a:srgbClr val="00B050"/>
              </a:solidFill>
              <a:latin typeface="Power Geez Unicode1" panose="00000400000000000000" pitchFamily="2" charset="0"/>
            </a:endParaRP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ቃል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ብዙ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ትርጉም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እንዳለው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እናስረዳቸው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latin typeface="Power Geez Unicode1" panose="00000400000000000000" pitchFamily="2" charset="0"/>
              </a:rPr>
              <a:t>በመቀጠል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ቁርአን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እግዚአብሄር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ከሰው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ግንኙነት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በመፍጠር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ሰብአዊ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አልወለደም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ወይም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በዚያ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መንገድ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አይወለድም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የሚለውን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ሐሳብ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ክርስቲያኖችም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የሚጋሩት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እንደሆነ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መንገር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አለብን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latin typeface="Power Geez Unicode1" panose="00000400000000000000" pitchFamily="2" charset="0"/>
              </a:rPr>
              <a:t>ከዚህ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ሐሳብ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በመቀጠል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ክርስቲያኖች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የኢየሱስን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smtClean="0">
                <a:latin typeface="Power Geez Unicode1" panose="00000400000000000000" pitchFamily="2" charset="0"/>
              </a:rPr>
              <a:t>እንደሚያምኑ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ማስረዳት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ያስፈልጋል</a:t>
            </a:r>
            <a:r>
              <a:rPr lang="en-US" b="1" dirty="0" smtClean="0">
                <a:latin typeface="Power Geez Unicode1" panose="00000400000000000000" pitchFamily="2" charset="0"/>
              </a:rPr>
              <a:t>፡፡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የክርስቶስ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ባህርዩና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ከፍጥረት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በፊት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መኖሩን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የሚያመለክት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እንጂ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ከድንግል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ከመወለዱ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ጋር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የተያያዘ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እንዳልሆነ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ማስረዳት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ያስፈልጋል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በመጨረሻም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መለኮታዊ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ልጅነት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በመጽሐፍ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ቅዱስ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በብዙ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ቦታዎች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እንደተጠቀሰና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በመላዕክትና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በኢየሱስ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አስተምህሮም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ውስጥ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አጽዕኖት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የተሰጠው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ጉዳይ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እንደሆን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መግለጽ</a:t>
            </a:r>
            <a:r>
              <a:rPr lang="en-US" b="1" dirty="0" smtClean="0">
                <a:latin typeface="Power Geez Unicode1" panose="00000400000000000000" pitchFamily="2" charset="0"/>
              </a:rPr>
              <a:t> </a:t>
            </a:r>
            <a:r>
              <a:rPr lang="en-US" b="1" dirty="0" err="1" smtClean="0">
                <a:latin typeface="Power Geez Unicode1" panose="00000400000000000000" pitchFamily="2" charset="0"/>
              </a:rPr>
              <a:t>ያስፈልጋል</a:t>
            </a:r>
            <a:r>
              <a:rPr lang="en-US" b="1" dirty="0" smtClean="0">
                <a:latin typeface="Power Geez Unicode1" panose="00000400000000000000" pitchFamily="2" charset="0"/>
              </a:rPr>
              <a:t>፡፡</a:t>
            </a:r>
            <a:endParaRPr lang="en-US" b="1" dirty="0">
              <a:latin typeface="Power Geez Unicode1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23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1412</TotalTime>
  <Words>1191</Words>
  <Application>Microsoft Office PowerPoint</Application>
  <PresentationFormat>On-screen Show (4:3)</PresentationFormat>
  <Paragraphs>76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Trek</vt:lpstr>
      <vt:lpstr>የኢየሱስ መለኮታዊ ልጅነት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የኢየሱስ መለኮታዊ ልጅነት</dc:title>
  <dc:creator>Windows User</dc:creator>
  <cp:lastModifiedBy>Windows User</cp:lastModifiedBy>
  <cp:revision>48</cp:revision>
  <dcterms:created xsi:type="dcterms:W3CDTF">2025-08-10T12:39:09Z</dcterms:created>
  <dcterms:modified xsi:type="dcterms:W3CDTF">2025-08-11T12:12:04Z</dcterms:modified>
</cp:coreProperties>
</file>